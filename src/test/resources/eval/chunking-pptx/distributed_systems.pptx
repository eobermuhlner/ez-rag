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620000" cy="1016000"/>
          </a:xfrm>
          <a:prstGeom prst="rect">
            <a:avLst/>
          </a:prstGeom>
        </p:spPr>
        <p:txBody>
          <a:bodyPr anchor="t" rtlCol="false"/>
          <a:lstStyle/>
          <a:p>
            <a:pPr algn="l">
              <a:defRPr/>
            </a:pPr>
            <a:r>
              <a:rPr lang="en-US"/>
              <a:t>Distributed Systems Overview</a:t>
            </a:r>
            <a:endParaRPr lang="en-US"/>
          </a:p>
        </p:txBody>
      </p:sp>
      <p:sp>
        <p:nvSpPr>
          <p:cNvPr name="TextBox 3" id="3"/>
          <p:cNvSpPr txBox="true"/>
          <p:nvPr/>
        </p:nvSpPr>
        <p:spPr>
          <a:xfrm>
            <a:off x="635000" y="1905000"/>
            <a:ext cx="7620000" cy="4445000"/>
          </a:xfrm>
          <a:prstGeom prst="rect">
            <a:avLst/>
          </a:prstGeom>
        </p:spPr>
        <p:txBody>
          <a:bodyPr anchor="t" rtlCol="false"/>
          <a:lstStyle/>
          <a:p>
            <a:pPr algn="l">
              <a:defRPr/>
            </a:pPr>
            <a:r>
              <a:rPr lang="en-US"/>
              <a:t>Distributed systems form the backbone of modern computing infrastructure, enabling applications to scale beyond the limits of any single machine. A distributed system is a collection of independent nodes that cooperate to present a unified service to end users. The CAP theorem states that any distributed data store can guarantee at most two of three properties: consistency, availability, and partition tolerance. Raft and Paxos are the two most widely deployed consensus algorithms for leader election and log replication in distributed systems.</a:t>
            </a:r>
            <a:endParaRPr lang="en-US"/>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620000" cy="1016000"/>
          </a:xfrm>
          <a:prstGeom prst="rect">
            <a:avLst/>
          </a:prstGeom>
        </p:spPr>
        <p:txBody>
          <a:bodyPr anchor="t" rtlCol="false"/>
          <a:lstStyle/>
          <a:p>
            <a:pPr algn="l">
              <a:defRPr/>
            </a:pPr>
            <a:r>
              <a:rPr lang="en-US"/>
              <a:t>Concurrency Models</a:t>
            </a:r>
            <a:endParaRPr lang="en-US"/>
          </a:p>
        </p:txBody>
      </p:sp>
      <p:sp>
        <p:nvSpPr>
          <p:cNvPr name="TextBox 3" id="3"/>
          <p:cNvSpPr txBox="true"/>
          <p:nvPr/>
        </p:nvSpPr>
        <p:spPr>
          <a:xfrm>
            <a:off x="635000" y="1905000"/>
            <a:ext cx="7620000" cy="4445000"/>
          </a:xfrm>
          <a:prstGeom prst="rect">
            <a:avLst/>
          </a:prstGeom>
        </p:spPr>
        <p:txBody>
          <a:bodyPr anchor="t" rtlCol="false"/>
          <a:lstStyle/>
          <a:p>
            <a:pPr algn="l">
              <a:defRPr/>
            </a:pPr>
            <a:r>
              <a:rPr lang="en-US"/>
              <a:t>Concurrency is a defining characteristic of distributed systems. The actor model, pioneered by Carl Hewitt in 1973, avoids shared mutable state entirely. In the actor model, actors communicate exclusively by passing immutable messages, and each actor's state is private and inaccessible to other actors. The ABA problem is the canonical pitfall of lock-free programming: a compare-and-swap reads a value A, which is then changed to B and back to A by another thread, causing the CAS to succeed even though the state has changed in the interim.</a:t>
            </a:r>
            <a:endParaRPr lang="en-US"/>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620000" cy="1016000"/>
          </a:xfrm>
          <a:prstGeom prst="rect">
            <a:avLst/>
          </a:prstGeom>
        </p:spPr>
        <p:txBody>
          <a:bodyPr anchor="t" rtlCol="false"/>
          <a:lstStyle/>
          <a:p>
            <a:pPr algn="l">
              <a:defRPr/>
            </a:pPr>
            <a:r>
              <a:rPr lang="en-US"/>
              <a:t>Fault Tolerance and Recovery</a:t>
            </a:r>
            <a:endParaRPr lang="en-US"/>
          </a:p>
        </p:txBody>
      </p:sp>
      <p:sp>
        <p:nvSpPr>
          <p:cNvPr name="TextBox 3" id="3"/>
          <p:cNvSpPr txBox="true"/>
          <p:nvPr/>
        </p:nvSpPr>
        <p:spPr>
          <a:xfrm>
            <a:off x="635000" y="1905000"/>
            <a:ext cx="7620000" cy="4445000"/>
          </a:xfrm>
          <a:prstGeom prst="rect">
            <a:avLst/>
          </a:prstGeom>
        </p:spPr>
        <p:txBody>
          <a:bodyPr anchor="t" rtlCol="false"/>
          <a:lstStyle/>
          <a:p>
            <a:pPr algn="l">
              <a:defRPr/>
            </a:pPr>
            <a:r>
              <a:rPr lang="en-US"/>
              <a:t>Fault tolerance is the capacity of a system to continue operating correctly in the presence of failures. Netflix uses Chaos Engineering with tools such as Chaos Monkey to verify that the system degrades gracefully. The circuit breaker pattern transitions from the closed state to the open state and begins rejecting calls immediately without attempting to contact the failing service when failures exceed the threshold. Bulkhead isolation separates resources into distinct thread pools so that failure of one downstream service cannot exhaust resources needed to call other services. Distributed tracing systems such as Jaeger, Zipkin, and AWS X-Ray propagate a trace context in request headers as work flows between services.</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